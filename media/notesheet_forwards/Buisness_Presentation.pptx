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71" r:id="rId8"/>
    <p:sldId id="272" r:id="rId9"/>
    <p:sldId id="279" r:id="rId10"/>
    <p:sldId id="273" r:id="rId11"/>
    <p:sldId id="280" r:id="rId12"/>
    <p:sldId id="274" r:id="rId13"/>
    <p:sldId id="281" r:id="rId14"/>
    <p:sldId id="275" r:id="rId15"/>
    <p:sldId id="282" r:id="rId16"/>
    <p:sldId id="276" r:id="rId17"/>
    <p:sldId id="283" r:id="rId18"/>
    <p:sldId id="277" r:id="rId19"/>
    <p:sldId id="284" r:id="rId20"/>
    <p:sldId id="278" r:id="rId21"/>
    <p:sldId id="285" r:id="rId22"/>
    <p:sldId id="264" r:id="rId23"/>
    <p:sldId id="265" r:id="rId24"/>
    <p:sldId id="266" r:id="rId25"/>
    <p:sldId id="267" r:id="rId26"/>
    <p:sldId id="268" r:id="rId27"/>
    <p:sldId id="26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26FE87-D480-4AF0-B602-22D46F54EC1A}">
          <p14:sldIdLst>
            <p14:sldId id="256"/>
            <p14:sldId id="257"/>
            <p14:sldId id="258"/>
            <p14:sldId id="259"/>
            <p14:sldId id="270"/>
            <p14:sldId id="260"/>
            <p14:sldId id="271"/>
            <p14:sldId id="272"/>
            <p14:sldId id="279"/>
            <p14:sldId id="273"/>
            <p14:sldId id="280"/>
            <p14:sldId id="274"/>
            <p14:sldId id="281"/>
            <p14:sldId id="275"/>
            <p14:sldId id="282"/>
            <p14:sldId id="276"/>
            <p14:sldId id="283"/>
            <p14:sldId id="277"/>
            <p14:sldId id="284"/>
            <p14:sldId id="278"/>
            <p14:sldId id="285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32" y="817685"/>
            <a:ext cx="9620127" cy="3420210"/>
          </a:xfrm>
        </p:spPr>
        <p:txBody>
          <a:bodyPr/>
          <a:lstStyle/>
          <a:p>
            <a:pPr algn="ctr"/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4000" dirty="0" smtClean="0"/>
              <a:t>Business </a:t>
            </a:r>
            <a:r>
              <a:rPr lang="en-US" sz="4000" dirty="0"/>
              <a:t>Innovation and Growth Strategies in the Modern Smartphone Industry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9401" y="3798277"/>
            <a:ext cx="8825658" cy="2447192"/>
          </a:xfrm>
        </p:spPr>
        <p:txBody>
          <a:bodyPr/>
          <a:lstStyle/>
          <a:p>
            <a:r>
              <a:rPr lang="en-US" dirty="0"/>
              <a:t>A Study of Unicorn </a:t>
            </a:r>
            <a:r>
              <a:rPr lang="en-US" dirty="0" smtClean="0"/>
              <a:t>Companies</a:t>
            </a:r>
            <a:r>
              <a:rPr lang="en-US" dirty="0"/>
              <a:t>,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Product Evaluation,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the Rapid Growth of Global Smartphone Brands</a:t>
            </a:r>
          </a:p>
        </p:txBody>
      </p:sp>
    </p:spTree>
    <p:extLst>
      <p:ext uri="{BB962C8B-B14F-4D97-AF65-F5344CB8AC3E}">
        <p14:creationId xmlns:p14="http://schemas.microsoft.com/office/powerpoint/2010/main" val="240485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2669" y="1468315"/>
            <a:ext cx="6400801" cy="4033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today’s modern world, business is growing faster than ever before. Technology has completely changed how companies start, grow, and compete in the global market.</a:t>
            </a:r>
          </a:p>
          <a:p>
            <a:r>
              <a:rPr lang="en-US" dirty="0"/>
              <a:t>Some companies reach billion-dollar valuations in a very short time. At the same time, smartphone companies like Samsung, Apple, </a:t>
            </a:r>
            <a:r>
              <a:rPr lang="en-US" dirty="0" err="1"/>
              <a:t>Oppo</a:t>
            </a:r>
            <a:r>
              <a:rPr lang="en-US" dirty="0"/>
              <a:t>, and Huawei have grown from small beginnings into global giants.</a:t>
            </a:r>
          </a:p>
          <a:p>
            <a:r>
              <a:rPr lang="en-US" dirty="0"/>
              <a:t>In this presentation, we will discuss:</a:t>
            </a:r>
          </a:p>
          <a:p>
            <a:r>
              <a:rPr lang="en-US" dirty="0"/>
              <a:t>• What is a Unicorn company?</a:t>
            </a:r>
            <a:br>
              <a:rPr lang="en-US" dirty="0"/>
            </a:br>
            <a:r>
              <a:rPr lang="en-US" dirty="0"/>
              <a:t>• What is product evaluation, especially phone evaluation?</a:t>
            </a:r>
            <a:br>
              <a:rPr lang="en-US" dirty="0"/>
            </a:br>
            <a:r>
              <a:rPr lang="en-US" dirty="0"/>
              <a:t>• How major smartphone companies started and became so successful</a:t>
            </a:r>
          </a:p>
        </p:txBody>
      </p:sp>
    </p:spTree>
    <p:extLst>
      <p:ext uri="{BB962C8B-B14F-4D97-AF65-F5344CB8AC3E}">
        <p14:creationId xmlns:p14="http://schemas.microsoft.com/office/powerpoint/2010/main" val="233638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What is a Unicorn Company?</a:t>
            </a:r>
          </a:p>
          <a:p>
            <a:r>
              <a:rPr lang="en-US" dirty="0"/>
              <a:t>A </a:t>
            </a:r>
            <a:r>
              <a:rPr lang="en-US" b="1" dirty="0"/>
              <a:t>Unicorn Company</a:t>
            </a:r>
            <a:r>
              <a:rPr lang="en-US" dirty="0"/>
              <a:t> is a privately owned startup that has reached a valuation of </a:t>
            </a:r>
            <a:r>
              <a:rPr lang="en-US" b="1" dirty="0"/>
              <a:t>1 billion US dollars or more</a:t>
            </a:r>
            <a:r>
              <a:rPr lang="en-US" dirty="0"/>
              <a:t>.</a:t>
            </a:r>
          </a:p>
          <a:p>
            <a:r>
              <a:rPr lang="en-US" dirty="0"/>
              <a:t>The term was introduced in 2013 by venture capitalist Aileen Lee.</a:t>
            </a:r>
          </a:p>
          <a:p>
            <a:r>
              <a:rPr lang="en-US" dirty="0"/>
              <a:t>The word “Unicorn” is used because billion-dollar startups were once very rare, just like the mythical unicorn creature.</a:t>
            </a:r>
          </a:p>
          <a:p>
            <a:r>
              <a:rPr lang="en-US" dirty="0"/>
              <a:t>A unicorn company:</a:t>
            </a:r>
          </a:p>
          <a:p>
            <a:r>
              <a:rPr lang="en-US" dirty="0"/>
              <a:t>• Is privately owned (not listed on stock exchange)</a:t>
            </a:r>
            <a:br>
              <a:rPr lang="en-US" dirty="0"/>
            </a:br>
            <a:r>
              <a:rPr lang="en-US" dirty="0"/>
              <a:t>• Is usually technology-based</a:t>
            </a:r>
            <a:br>
              <a:rPr lang="en-US" dirty="0"/>
            </a:br>
            <a:r>
              <a:rPr lang="en-US" dirty="0"/>
              <a:t>• Has very high market valuation</a:t>
            </a:r>
            <a:br>
              <a:rPr lang="en-US" dirty="0"/>
            </a:br>
            <a:r>
              <a:rPr lang="en-US" dirty="0"/>
              <a:t>• Grows at a very fast speed</a:t>
            </a:r>
          </a:p>
          <a:p>
            <a:r>
              <a:rPr lang="en-US" dirty="0"/>
              <a:t>These companies are considered highly innovative and disruptive.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85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88984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Key Characteristics of Unicorn Companies</a:t>
            </a:r>
          </a:p>
          <a:p>
            <a:r>
              <a:rPr lang="en-US" dirty="0"/>
              <a:t>Unicorn companies have some common characteristics:</a:t>
            </a:r>
          </a:p>
          <a:p>
            <a:r>
              <a:rPr lang="en-US" b="1" dirty="0" smtClean="0"/>
              <a:t>1: Innovation</a:t>
            </a:r>
            <a:endParaRPr lang="en-US" b="1" dirty="0"/>
          </a:p>
          <a:p>
            <a:r>
              <a:rPr lang="en-US" dirty="0"/>
              <a:t>They introduce new ideas or improve existing systems significantly.</a:t>
            </a:r>
          </a:p>
          <a:p>
            <a:r>
              <a:rPr lang="en-US" b="1" dirty="0" smtClean="0"/>
              <a:t>2: Scalability</a:t>
            </a:r>
            <a:endParaRPr lang="en-US" b="1" dirty="0"/>
          </a:p>
          <a:p>
            <a:r>
              <a:rPr lang="en-US" dirty="0"/>
              <a:t>Their business model allows rapid expansion globally without high physical cost.</a:t>
            </a:r>
          </a:p>
          <a:p>
            <a:r>
              <a:rPr lang="en-US" b="1" dirty="0" smtClean="0"/>
              <a:t>3: Technology-Based </a:t>
            </a:r>
            <a:r>
              <a:rPr lang="en-US" b="1" dirty="0"/>
              <a:t>Model</a:t>
            </a:r>
          </a:p>
          <a:p>
            <a:r>
              <a:rPr lang="en-US" dirty="0"/>
              <a:t>Most unicorns operate through digital platforms or advanced technology.</a:t>
            </a:r>
          </a:p>
          <a:p>
            <a:r>
              <a:rPr lang="en-US" b="1" dirty="0" smtClean="0"/>
              <a:t>4: Strong </a:t>
            </a:r>
            <a:r>
              <a:rPr lang="en-US" b="1" dirty="0"/>
              <a:t>Investor Support</a:t>
            </a:r>
          </a:p>
          <a:p>
            <a:r>
              <a:rPr lang="en-US" dirty="0"/>
              <a:t>They receive funding from venture capitalists and private investors.</a:t>
            </a:r>
          </a:p>
          <a:p>
            <a:r>
              <a:rPr lang="en-US" b="1" dirty="0" smtClean="0"/>
              <a:t>5: High </a:t>
            </a:r>
            <a:r>
              <a:rPr lang="en-US" b="1" dirty="0"/>
              <a:t>Growth Potential</a:t>
            </a:r>
          </a:p>
          <a:p>
            <a:r>
              <a:rPr lang="en-US" dirty="0"/>
              <a:t>They focus on rapid expansion rather than slow traditional growth.</a:t>
            </a:r>
          </a:p>
        </p:txBody>
      </p:sp>
    </p:spTree>
    <p:extLst>
      <p:ext uri="{BB962C8B-B14F-4D97-AF65-F5344CB8AC3E}">
        <p14:creationId xmlns:p14="http://schemas.microsoft.com/office/powerpoint/2010/main" val="199875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889844"/>
            <a:ext cx="6096000" cy="541686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Reasons Behind the Success of Unicorn Companies</a:t>
            </a:r>
          </a:p>
          <a:p>
            <a:r>
              <a:rPr lang="en-US" dirty="0"/>
              <a:t>Unicorn companies become successful due to strong strategic reasons:</a:t>
            </a:r>
          </a:p>
          <a:p>
            <a:r>
              <a:rPr lang="en-US" b="1" dirty="0" smtClean="0"/>
              <a:t>1: First-Mover </a:t>
            </a:r>
            <a:r>
              <a:rPr lang="en-US" b="1" dirty="0"/>
              <a:t>Advantage</a:t>
            </a:r>
          </a:p>
          <a:p>
            <a:r>
              <a:rPr lang="en-US" dirty="0"/>
              <a:t>They enter the market early with new ideas and capture customers before competitors.</a:t>
            </a:r>
          </a:p>
          <a:p>
            <a:r>
              <a:rPr lang="en-US" b="1" dirty="0" smtClean="0"/>
              <a:t>2: Market </a:t>
            </a:r>
            <a:r>
              <a:rPr lang="en-US" b="1" dirty="0"/>
              <a:t>Disruption</a:t>
            </a:r>
          </a:p>
          <a:p>
            <a:r>
              <a:rPr lang="en-US" dirty="0"/>
              <a:t>They do not follow traditional systems — they change them completely.</a:t>
            </a:r>
          </a:p>
          <a:p>
            <a:r>
              <a:rPr lang="en-US" b="1" dirty="0" smtClean="0"/>
              <a:t>3: Solving </a:t>
            </a:r>
            <a:r>
              <a:rPr lang="en-US" b="1" dirty="0"/>
              <a:t>Real Problems</a:t>
            </a:r>
          </a:p>
          <a:p>
            <a:r>
              <a:rPr lang="en-US" dirty="0"/>
              <a:t>They provide convenient, fast, and affordable solutions.</a:t>
            </a:r>
          </a:p>
          <a:p>
            <a:r>
              <a:rPr lang="en-US" b="1" dirty="0" smtClean="0"/>
              <a:t>4: Digital </a:t>
            </a:r>
            <a:r>
              <a:rPr lang="en-US" b="1" dirty="0"/>
              <a:t>Platform Model</a:t>
            </a:r>
          </a:p>
          <a:p>
            <a:r>
              <a:rPr lang="en-US" dirty="0"/>
              <a:t>They use apps or websites to scale quickly worldwide.</a:t>
            </a:r>
          </a:p>
          <a:p>
            <a:r>
              <a:rPr lang="en-US" b="1" dirty="0" smtClean="0"/>
              <a:t>5: Network </a:t>
            </a:r>
            <a:r>
              <a:rPr lang="en-US" b="1" dirty="0"/>
              <a:t>Effect</a:t>
            </a:r>
          </a:p>
          <a:p>
            <a:r>
              <a:rPr lang="en-US" dirty="0"/>
              <a:t>More users increase the value of the service automatically</a:t>
            </a:r>
          </a:p>
        </p:txBody>
      </p:sp>
    </p:spTree>
    <p:extLst>
      <p:ext uri="{BB962C8B-B14F-4D97-AF65-F5344CB8AC3E}">
        <p14:creationId xmlns:p14="http://schemas.microsoft.com/office/powerpoint/2010/main" val="1819316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2: Why </a:t>
            </a:r>
            <a:r>
              <a:rPr lang="en-US" b="1" dirty="0"/>
              <a:t>Do Unicorn Companies Grow So Fast?</a:t>
            </a:r>
          </a:p>
          <a:p>
            <a:r>
              <a:rPr lang="en-US" dirty="0"/>
              <a:t>Unicorn companies grow quickly because:</a:t>
            </a:r>
          </a:p>
          <a:p>
            <a:r>
              <a:rPr lang="en-US" dirty="0"/>
              <a:t>• They use digital platforms (low physical cost)</a:t>
            </a:r>
            <a:br>
              <a:rPr lang="en-US" dirty="0"/>
            </a:br>
            <a:r>
              <a:rPr lang="en-US" dirty="0"/>
              <a:t>• They expand globally through the internet</a:t>
            </a:r>
            <a:br>
              <a:rPr lang="en-US" dirty="0"/>
            </a:br>
            <a:r>
              <a:rPr lang="en-US" dirty="0"/>
              <a:t>• They attract strong investors</a:t>
            </a:r>
            <a:br>
              <a:rPr lang="en-US" dirty="0"/>
            </a:br>
            <a:r>
              <a:rPr lang="en-US" dirty="0"/>
              <a:t>• They focus on customer needs</a:t>
            </a:r>
            <a:br>
              <a:rPr lang="en-US" dirty="0"/>
            </a:br>
            <a:r>
              <a:rPr lang="en-US" dirty="0"/>
              <a:t>• They use aggressive marketing strategies</a:t>
            </a:r>
            <a:br>
              <a:rPr lang="en-US" dirty="0"/>
            </a:br>
            <a:r>
              <a:rPr lang="en-US" dirty="0"/>
              <a:t>• They benefit from the “network effect” (more users = more value)</a:t>
            </a:r>
          </a:p>
          <a:p>
            <a:r>
              <a:rPr lang="en-US" dirty="0"/>
              <a:t>This combination helps them reach billion-dollar valuation rapidly.</a:t>
            </a:r>
          </a:p>
        </p:txBody>
      </p:sp>
    </p:spTree>
    <p:extLst>
      <p:ext uri="{BB962C8B-B14F-4D97-AF65-F5344CB8AC3E}">
        <p14:creationId xmlns:p14="http://schemas.microsoft.com/office/powerpoint/2010/main" val="202894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/>
              <a:t>Example of Uber (Disrupting Taxi Industry)</a:t>
            </a:r>
          </a:p>
          <a:p>
            <a:r>
              <a:rPr lang="en-US" dirty="0"/>
              <a:t>Before Uber:</a:t>
            </a:r>
          </a:p>
          <a:p>
            <a:r>
              <a:rPr lang="en-US" dirty="0"/>
              <a:t>• Traditional taxis had no digital tracking</a:t>
            </a:r>
            <a:br>
              <a:rPr lang="en-US" dirty="0"/>
            </a:br>
            <a:r>
              <a:rPr lang="en-US" dirty="0"/>
              <a:t>• No fixed transparent pricing</a:t>
            </a:r>
            <a:br>
              <a:rPr lang="en-US" dirty="0"/>
            </a:br>
            <a:r>
              <a:rPr lang="en-US" dirty="0"/>
              <a:t>• No customer rating system</a:t>
            </a:r>
            <a:br>
              <a:rPr lang="en-US" dirty="0"/>
            </a:br>
            <a:r>
              <a:rPr lang="en-US" dirty="0"/>
              <a:t>• Limited availability</a:t>
            </a:r>
          </a:p>
          <a:p>
            <a:r>
              <a:rPr lang="en-US" dirty="0"/>
              <a:t>Uber introduced:</a:t>
            </a:r>
          </a:p>
          <a:p>
            <a:r>
              <a:rPr lang="en-US" dirty="0"/>
              <a:t>• App-based ride booking</a:t>
            </a:r>
            <a:br>
              <a:rPr lang="en-US" dirty="0"/>
            </a:br>
            <a:r>
              <a:rPr lang="en-US" dirty="0"/>
              <a:t>• GPS tracking</a:t>
            </a:r>
            <a:br>
              <a:rPr lang="en-US" dirty="0"/>
            </a:br>
            <a:r>
              <a:rPr lang="en-US" dirty="0"/>
              <a:t>• Online payment</a:t>
            </a:r>
            <a:br>
              <a:rPr lang="en-US" dirty="0"/>
            </a:br>
            <a:r>
              <a:rPr lang="en-US" dirty="0"/>
              <a:t>• Driver and customer ratings</a:t>
            </a:r>
          </a:p>
          <a:p>
            <a:r>
              <a:rPr lang="en-US" dirty="0"/>
              <a:t>Uber does not own cars.</a:t>
            </a:r>
            <a:br>
              <a:rPr lang="en-US" dirty="0"/>
            </a:br>
            <a:r>
              <a:rPr lang="en-US" dirty="0"/>
              <a:t>It uses a </a:t>
            </a:r>
            <a:r>
              <a:rPr lang="en-US" b="1" dirty="0"/>
              <a:t>platform business model</a:t>
            </a:r>
            <a:r>
              <a:rPr lang="en-US" dirty="0"/>
              <a:t> where drivers use their own vehicles.</a:t>
            </a:r>
          </a:p>
          <a:p>
            <a:r>
              <a:rPr lang="en-US" dirty="0"/>
              <a:t>This innovation disrupted the traditional taxi industry and helped Uber grow rapidly into a unicorn company.</a:t>
            </a:r>
          </a:p>
        </p:txBody>
      </p:sp>
    </p:spTree>
    <p:extLst>
      <p:ext uri="{BB962C8B-B14F-4D97-AF65-F5344CB8AC3E}">
        <p14:creationId xmlns:p14="http://schemas.microsoft.com/office/powerpoint/2010/main" val="346862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612845"/>
            <a:ext cx="6096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The Evolution of Phones – From Wires to Pocket Supercomputers</a:t>
            </a:r>
          </a:p>
          <a:p>
            <a:r>
              <a:rPr lang="en-US" b="1" dirty="0" smtClean="0"/>
              <a:t>1: The </a:t>
            </a:r>
            <a:r>
              <a:rPr lang="en-US" b="1" dirty="0"/>
              <a:t>First Telephone – Talking Through Wires (1876)</a:t>
            </a:r>
          </a:p>
          <a:p>
            <a:r>
              <a:rPr lang="en-US" dirty="0"/>
              <a:t>In 1876, a man named Alexander Graham Bell changed the world forever. He invented the first telephone.</a:t>
            </a:r>
          </a:p>
          <a:p>
            <a:r>
              <a:rPr lang="en-US" dirty="0"/>
              <a:t>Before this, people could only communicate by letters or telegrams. It could take days or even weeks to send a message.</a:t>
            </a:r>
          </a:p>
          <a:p>
            <a:r>
              <a:rPr lang="en-US" dirty="0"/>
              <a:t>Bell’s telephone allowed people to talk to each other using wires. The voice traveled as electrical signals through long </a:t>
            </a:r>
            <a:r>
              <a:rPr lang="en-US" dirty="0" smtClean="0"/>
              <a:t>cables.</a:t>
            </a:r>
          </a:p>
          <a:p>
            <a:r>
              <a:rPr lang="en-US" dirty="0" smtClean="0"/>
              <a:t>1:  It was simple.</a:t>
            </a:r>
            <a:br>
              <a:rPr lang="en-US" dirty="0" smtClean="0"/>
            </a:br>
            <a:r>
              <a:rPr lang="en-US" dirty="0" smtClean="0"/>
              <a:t>2: It had no buttons.</a:t>
            </a:r>
            <a:br>
              <a:rPr lang="en-US" dirty="0" smtClean="0"/>
            </a:br>
            <a:r>
              <a:rPr lang="en-US" dirty="0" smtClean="0"/>
              <a:t>3: It connected two places directly.</a:t>
            </a:r>
          </a:p>
          <a:p>
            <a:r>
              <a:rPr lang="en-US" dirty="0" smtClean="0"/>
              <a:t>It </a:t>
            </a:r>
            <a:r>
              <a:rPr lang="en-US" dirty="0"/>
              <a:t>was slow, but it was magical. For the first time in history, people could hear someone’s voice from far away.</a:t>
            </a:r>
          </a:p>
          <a:p>
            <a:r>
              <a:rPr lang="en-US" dirty="0"/>
              <a:t>This was the beginning of a communication revolution.</a:t>
            </a:r>
          </a:p>
        </p:txBody>
      </p:sp>
    </p:spTree>
    <p:extLst>
      <p:ext uri="{BB962C8B-B14F-4D97-AF65-F5344CB8AC3E}">
        <p14:creationId xmlns:p14="http://schemas.microsoft.com/office/powerpoint/2010/main" val="402434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876 and telephone hi-res stock photography and images - Alamy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5" t="6346" r="4419" b="14550"/>
          <a:stretch/>
        </p:blipFill>
        <p:spPr bwMode="auto">
          <a:xfrm>
            <a:off x="2268415" y="1177625"/>
            <a:ext cx="7165731" cy="4765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94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2: The </a:t>
            </a:r>
            <a:r>
              <a:rPr lang="en-US" b="1" dirty="0"/>
              <a:t>Rotary Phone Era – Spin to Call (1900–1960)</a:t>
            </a:r>
          </a:p>
          <a:p>
            <a:r>
              <a:rPr lang="en-US" dirty="0"/>
              <a:t>As telephones became common in homes, a new version appeared: the rotary phone.</a:t>
            </a:r>
          </a:p>
          <a:p>
            <a:r>
              <a:rPr lang="en-US" dirty="0"/>
              <a:t>Instead of asking an operator to connect calls, people could dial numbers themselves.</a:t>
            </a:r>
          </a:p>
          <a:p>
            <a:r>
              <a:rPr lang="en-US" dirty="0"/>
              <a:t>The rotary phone had: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circular dial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Numbers 0–9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put your finger in a hole and rotated it</a:t>
            </a:r>
          </a:p>
          <a:p>
            <a:r>
              <a:rPr lang="en-US" dirty="0"/>
              <a:t>It made a satisfying clicking sound while dialing.</a:t>
            </a:r>
          </a:p>
          <a:p>
            <a:r>
              <a:rPr lang="en-US" dirty="0" smtClean="0"/>
              <a:t>☎️ </a:t>
            </a:r>
            <a:r>
              <a:rPr lang="en-US" dirty="0"/>
              <a:t>Calling someone took time.</a:t>
            </a:r>
            <a:br>
              <a:rPr lang="en-US" dirty="0"/>
            </a:br>
            <a:r>
              <a:rPr lang="en-US" dirty="0"/>
              <a:t>If you made a mistake? You had to start again!</a:t>
            </a:r>
          </a:p>
          <a:p>
            <a:r>
              <a:rPr lang="en-US" dirty="0"/>
              <a:t>But this phone made communication more independent and modern.</a:t>
            </a:r>
          </a:p>
        </p:txBody>
      </p:sp>
    </p:spTree>
    <p:extLst>
      <p:ext uri="{BB962C8B-B14F-4D97-AF65-F5344CB8AC3E}">
        <p14:creationId xmlns:p14="http://schemas.microsoft.com/office/powerpoint/2010/main" val="4027804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e Rotary Telephone — A Beautiful Relic from a Bygone Era.. | by Adnan  Farooqui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2092" y="946082"/>
            <a:ext cx="5249007" cy="5349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600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3: Push-Button </a:t>
            </a:r>
            <a:r>
              <a:rPr lang="en-US" b="1" dirty="0"/>
              <a:t>&amp; Cordless Phones (1970–1980)</a:t>
            </a:r>
          </a:p>
          <a:p>
            <a:r>
              <a:rPr lang="en-US" dirty="0"/>
              <a:t>Technology improved again.</a:t>
            </a:r>
          </a:p>
          <a:p>
            <a:r>
              <a:rPr lang="en-US" dirty="0"/>
              <a:t>Rotary phones were replaced with push-button phones.</a:t>
            </a:r>
          </a:p>
          <a:p>
            <a:r>
              <a:rPr lang="en-US" dirty="0"/>
              <a:t>Instead of spinning a dial, you simply pressed buttons. It was: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convenient</a:t>
            </a:r>
          </a:p>
          <a:p>
            <a:r>
              <a:rPr lang="en-US" dirty="0"/>
              <a:t>Then came cordless phones.</a:t>
            </a:r>
          </a:p>
          <a:p>
            <a:r>
              <a:rPr lang="en-US" dirty="0"/>
              <a:t>Now you could walk around your house while talking. No wires attached to your hand!</a:t>
            </a:r>
          </a:p>
          <a:p>
            <a:r>
              <a:rPr lang="en-US" dirty="0"/>
              <a:t>It felt futuristic at that time.</a:t>
            </a:r>
          </a:p>
        </p:txBody>
      </p:sp>
    </p:spTree>
    <p:extLst>
      <p:ext uri="{BB962C8B-B14F-4D97-AF65-F5344CB8AC3E}">
        <p14:creationId xmlns:p14="http://schemas.microsoft.com/office/powerpoint/2010/main" val="123207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ush-button telephone - Wikipedi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6099" y="1028699"/>
            <a:ext cx="5495193" cy="501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12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305342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4: The </a:t>
            </a:r>
            <a:r>
              <a:rPr lang="en-US" b="1" dirty="0"/>
              <a:t>First Mobile Phones (1980s)</a:t>
            </a:r>
          </a:p>
          <a:p>
            <a:r>
              <a:rPr lang="en-US" dirty="0"/>
              <a:t>Then came a huge breakthrough — mobile phones.</a:t>
            </a:r>
          </a:p>
          <a:p>
            <a:r>
              <a:rPr lang="en-US" dirty="0"/>
              <a:t>In 1973, Martin Cooper from Motorola made the first mobile phone call.</a:t>
            </a:r>
          </a:p>
          <a:p>
            <a:r>
              <a:rPr lang="en-US" dirty="0"/>
              <a:t>By the 1980s, mobile phones became available to the public.</a:t>
            </a:r>
          </a:p>
          <a:p>
            <a:r>
              <a:rPr lang="en-US" dirty="0"/>
              <a:t>But they were: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big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heavy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expensive</a:t>
            </a:r>
          </a:p>
          <a:p>
            <a:r>
              <a:rPr lang="en-US" dirty="0"/>
              <a:t>They were called “brick phones” because they looked like bricks.</a:t>
            </a:r>
          </a:p>
          <a:p>
            <a:r>
              <a:rPr lang="en-US" dirty="0"/>
              <a:t>Only rich business people could afford them.</a:t>
            </a:r>
          </a:p>
          <a:p>
            <a:r>
              <a:rPr lang="en-US" dirty="0"/>
              <a:t>Still, this was a massive change:</a:t>
            </a:r>
            <a:br>
              <a:rPr lang="en-US" dirty="0"/>
            </a:br>
            <a:r>
              <a:rPr lang="en-US" dirty="0"/>
              <a:t>📱 You could talk without wires — anywhere!</a:t>
            </a:r>
          </a:p>
        </p:txBody>
      </p:sp>
    </p:spTree>
    <p:extLst>
      <p:ext uri="{BB962C8B-B14F-4D97-AF65-F5344CB8AC3E}">
        <p14:creationId xmlns:p14="http://schemas.microsoft.com/office/powerpoint/2010/main" val="93932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The 13 most popular phones in the UK during the 1980s - revealed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185" y="1327212"/>
            <a:ext cx="6673361" cy="4607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13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5: Flip </a:t>
            </a:r>
            <a:r>
              <a:rPr lang="en-US" b="1" dirty="0"/>
              <a:t>Phones &amp; Texting Era (1990s – Early 2000s)</a:t>
            </a:r>
          </a:p>
          <a:p>
            <a:r>
              <a:rPr lang="en-US" dirty="0"/>
              <a:t>Mobile phones became smaller and smarter.</a:t>
            </a:r>
          </a:p>
          <a:p>
            <a:r>
              <a:rPr lang="en-US" dirty="0"/>
              <a:t>This era introduced: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Flip phones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Smaller antennas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Color screens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SMS texting</a:t>
            </a:r>
          </a:p>
          <a:p>
            <a:r>
              <a:rPr lang="en-US" dirty="0"/>
              <a:t>Text messaging became extremely popular.</a:t>
            </a:r>
          </a:p>
          <a:p>
            <a:r>
              <a:rPr lang="en-US" dirty="0"/>
              <a:t>One famous phone was the Nokia 3310.</a:t>
            </a:r>
            <a:br>
              <a:rPr lang="en-US" dirty="0"/>
            </a:br>
            <a:r>
              <a:rPr lang="en-US" dirty="0"/>
              <a:t>It was: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strong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 battery life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to use</a:t>
            </a:r>
          </a:p>
          <a:p>
            <a:r>
              <a:rPr lang="en-US" dirty="0"/>
              <a:t>People loved playing Snake game and sending short messages.</a:t>
            </a:r>
          </a:p>
          <a:p>
            <a:r>
              <a:rPr lang="en-US" dirty="0"/>
              <a:t>Phones were no longer just for calling — they became personal devices.</a:t>
            </a:r>
          </a:p>
        </p:txBody>
      </p:sp>
    </p:spTree>
    <p:extLst>
      <p:ext uri="{BB962C8B-B14F-4D97-AF65-F5344CB8AC3E}">
        <p14:creationId xmlns:p14="http://schemas.microsoft.com/office/powerpoint/2010/main" val="25767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What Using Flip Phone In The 2000s Was Lik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657" y="1046286"/>
            <a:ext cx="6975229" cy="474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398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028343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6: The </a:t>
            </a:r>
            <a:r>
              <a:rPr lang="en-US" b="1" dirty="0"/>
              <a:t>Smartphone Revolution (2007)</a:t>
            </a:r>
          </a:p>
          <a:p>
            <a:r>
              <a:rPr lang="en-US" dirty="0"/>
              <a:t>In 2007, everything changed again.</a:t>
            </a:r>
          </a:p>
          <a:p>
            <a:r>
              <a:rPr lang="en-US" dirty="0"/>
              <a:t>iPhone by Apple was introduced.</a:t>
            </a:r>
          </a:p>
          <a:p>
            <a:r>
              <a:rPr lang="en-US" dirty="0"/>
              <a:t>It had: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full touchscreen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physical keyboard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 browsing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Apps</a:t>
            </a:r>
          </a:p>
          <a:p>
            <a:r>
              <a:rPr lang="en-US" dirty="0"/>
              <a:t>Soon, companies like Samsung followed.</a:t>
            </a:r>
          </a:p>
          <a:p>
            <a:r>
              <a:rPr lang="en-US" dirty="0"/>
              <a:t>Now phones were not just phones.</a:t>
            </a:r>
          </a:p>
          <a:p>
            <a:r>
              <a:rPr lang="en-US" dirty="0"/>
              <a:t>They became: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Cameras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Music players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GPS systems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Gaming devices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Internet machines</a:t>
            </a:r>
          </a:p>
          <a:p>
            <a:r>
              <a:rPr lang="en-US" dirty="0"/>
              <a:t>This was the beginning of the smartphone era.</a:t>
            </a:r>
          </a:p>
        </p:txBody>
      </p:sp>
    </p:spTree>
    <p:extLst>
      <p:ext uri="{BB962C8B-B14F-4D97-AF65-F5344CB8AC3E}">
        <p14:creationId xmlns:p14="http://schemas.microsoft.com/office/powerpoint/2010/main" val="77553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Phone throwback: The original 2007 iPhone started the smartphone revolution  | Mobile News (HT Tech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808" y="1103877"/>
            <a:ext cx="7506109" cy="4892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051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443841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7: Modern </a:t>
            </a:r>
            <a:r>
              <a:rPr lang="en-US" b="1" dirty="0"/>
              <a:t>Smartphones – Pocket Supercomputers</a:t>
            </a:r>
          </a:p>
          <a:p>
            <a:r>
              <a:rPr lang="en-US" dirty="0"/>
              <a:t>Today’s smartphones are incredibly powerful.</a:t>
            </a:r>
          </a:p>
          <a:p>
            <a:r>
              <a:rPr lang="en-US" dirty="0"/>
              <a:t>They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High-quality cameras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Face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Artificial Intelligence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5G internet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Huge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Powerful processors</a:t>
            </a:r>
          </a:p>
          <a:p>
            <a:r>
              <a:rPr lang="en-US" dirty="0"/>
              <a:t>Your phone today is more powerful than the computers used to send humans to the moon.</a:t>
            </a:r>
          </a:p>
          <a:p>
            <a:r>
              <a:rPr lang="en-US" dirty="0"/>
              <a:t>It fits in your pocket.</a:t>
            </a:r>
          </a:p>
          <a:p>
            <a:r>
              <a:rPr lang="en-US" dirty="0"/>
              <a:t>It connects you to the entire world.</a:t>
            </a:r>
          </a:p>
          <a:p>
            <a:r>
              <a:rPr lang="en-US" dirty="0"/>
              <a:t>It is truly a pocket supercomputer.</a:t>
            </a:r>
          </a:p>
        </p:txBody>
      </p:sp>
    </p:spTree>
    <p:extLst>
      <p:ext uri="{BB962C8B-B14F-4D97-AF65-F5344CB8AC3E}">
        <p14:creationId xmlns:p14="http://schemas.microsoft.com/office/powerpoint/2010/main" val="3256710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pple debuts iPhone 16 Pro and iPhone 16 Pro Max - App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263" y="849746"/>
            <a:ext cx="4167552" cy="5409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1335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Growth Story of Samsung</a:t>
            </a:r>
          </a:p>
          <a:p>
            <a:r>
              <a:rPr lang="en-US" dirty="0"/>
              <a:t>Founded in 1938 in South Korea.</a:t>
            </a:r>
          </a:p>
          <a:p>
            <a:r>
              <a:rPr lang="en-US" dirty="0"/>
              <a:t>Originally started as a small trading company selling groceries and dried fish.</a:t>
            </a:r>
          </a:p>
          <a:p>
            <a:r>
              <a:rPr lang="en-US" dirty="0"/>
              <a:t>In the 1960s, Samsung entered the electronics industry.</a:t>
            </a:r>
          </a:p>
          <a:p>
            <a:r>
              <a:rPr lang="en-US" dirty="0"/>
              <a:t>Growth Factors:</a:t>
            </a:r>
          </a:p>
          <a:p>
            <a:r>
              <a:rPr lang="en-US" dirty="0"/>
              <a:t>• Heavy investment in research and development</a:t>
            </a:r>
            <a:br>
              <a:rPr lang="en-US" dirty="0"/>
            </a:br>
            <a:r>
              <a:rPr lang="en-US" dirty="0"/>
              <a:t>• Manufacturing its own components</a:t>
            </a:r>
            <a:br>
              <a:rPr lang="en-US" dirty="0"/>
            </a:br>
            <a:r>
              <a:rPr lang="en-US" dirty="0"/>
              <a:t>• Offering products in all price ranges</a:t>
            </a:r>
            <a:br>
              <a:rPr lang="en-US" dirty="0"/>
            </a:br>
            <a:r>
              <a:rPr lang="en-US" dirty="0"/>
              <a:t>• Strong global distribution network</a:t>
            </a:r>
          </a:p>
          <a:p>
            <a:r>
              <a:rPr lang="en-US" dirty="0"/>
              <a:t>Today Samsung is one of the largest smartphone manufacturers in the world.</a:t>
            </a:r>
          </a:p>
        </p:txBody>
      </p:sp>
    </p:spTree>
    <p:extLst>
      <p:ext uri="{BB962C8B-B14F-4D97-AF65-F5344CB8AC3E}">
        <p14:creationId xmlns:p14="http://schemas.microsoft.com/office/powerpoint/2010/main" val="306162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Growth Story of Apple</a:t>
            </a:r>
          </a:p>
          <a:p>
            <a:r>
              <a:rPr lang="en-US" dirty="0"/>
              <a:t>Founded in 1976 by Steve Jobs and Steve Wozniak.</a:t>
            </a:r>
          </a:p>
          <a:p>
            <a:r>
              <a:rPr lang="en-US" dirty="0"/>
              <a:t>Started in a garage making personal computers.</a:t>
            </a:r>
          </a:p>
          <a:p>
            <a:r>
              <a:rPr lang="en-US" dirty="0"/>
              <a:t>In 2007, Apple launched the iPhone, which changed the smartphone industry completely.</a:t>
            </a:r>
          </a:p>
          <a:p>
            <a:r>
              <a:rPr lang="en-US" dirty="0"/>
              <a:t>Growth Factors:</a:t>
            </a:r>
          </a:p>
          <a:p>
            <a:r>
              <a:rPr lang="en-US" dirty="0"/>
              <a:t>• Premium branding strategy</a:t>
            </a:r>
            <a:br>
              <a:rPr lang="en-US" dirty="0"/>
            </a:br>
            <a:r>
              <a:rPr lang="en-US" dirty="0"/>
              <a:t>• Unique iOS ecosystem</a:t>
            </a:r>
            <a:br>
              <a:rPr lang="en-US" dirty="0"/>
            </a:br>
            <a:r>
              <a:rPr lang="en-US" dirty="0"/>
              <a:t>• Focus on innovation and design</a:t>
            </a:r>
            <a:br>
              <a:rPr lang="en-US" dirty="0"/>
            </a:br>
            <a:r>
              <a:rPr lang="en-US" dirty="0"/>
              <a:t>• Strong customer loyalty</a:t>
            </a:r>
            <a:br>
              <a:rPr lang="en-US" dirty="0"/>
            </a:br>
            <a:r>
              <a:rPr lang="en-US" dirty="0"/>
              <a:t>• High profit margins</a:t>
            </a:r>
          </a:p>
          <a:p>
            <a:r>
              <a:rPr lang="en-US" dirty="0"/>
              <a:t>Apple focuses on quality over quantity.</a:t>
            </a:r>
          </a:p>
        </p:txBody>
      </p:sp>
    </p:spTree>
    <p:extLst>
      <p:ext uri="{BB962C8B-B14F-4D97-AF65-F5344CB8AC3E}">
        <p14:creationId xmlns:p14="http://schemas.microsoft.com/office/powerpoint/2010/main" val="257298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Growth Story of </a:t>
            </a:r>
            <a:r>
              <a:rPr lang="en-US" b="1" dirty="0" err="1"/>
              <a:t>Oppo</a:t>
            </a:r>
            <a:endParaRPr lang="en-US" b="1" dirty="0"/>
          </a:p>
          <a:p>
            <a:r>
              <a:rPr lang="en-US" dirty="0"/>
              <a:t>Founded in 2004 in China.</a:t>
            </a:r>
          </a:p>
          <a:p>
            <a:r>
              <a:rPr lang="en-US" dirty="0" err="1"/>
              <a:t>Oppo</a:t>
            </a:r>
            <a:r>
              <a:rPr lang="en-US" dirty="0"/>
              <a:t> focused on stylish design and strong camera features.</a:t>
            </a:r>
          </a:p>
          <a:p>
            <a:r>
              <a:rPr lang="en-US" dirty="0"/>
              <a:t>Growth Factors:</a:t>
            </a:r>
          </a:p>
          <a:p>
            <a:r>
              <a:rPr lang="en-US" dirty="0"/>
              <a:t>• Heavy marketing campaigns</a:t>
            </a:r>
            <a:br>
              <a:rPr lang="en-US" dirty="0"/>
            </a:br>
            <a:r>
              <a:rPr lang="en-US" dirty="0"/>
              <a:t>• Focus on young customers</a:t>
            </a:r>
            <a:br>
              <a:rPr lang="en-US" dirty="0"/>
            </a:br>
            <a:r>
              <a:rPr lang="en-US" dirty="0"/>
              <a:t>• Affordable pricing strategy</a:t>
            </a:r>
            <a:br>
              <a:rPr lang="en-US" dirty="0"/>
            </a:br>
            <a:r>
              <a:rPr lang="en-US" dirty="0"/>
              <a:t>• Strong presence in Asian markets</a:t>
            </a:r>
          </a:p>
          <a:p>
            <a:r>
              <a:rPr lang="en-US" dirty="0" err="1"/>
              <a:t>Oppo</a:t>
            </a:r>
            <a:r>
              <a:rPr lang="en-US" dirty="0"/>
              <a:t> became popular especially in developing countries.</a:t>
            </a:r>
          </a:p>
        </p:txBody>
      </p:sp>
    </p:spTree>
    <p:extLst>
      <p:ext uri="{BB962C8B-B14F-4D97-AF65-F5344CB8AC3E}">
        <p14:creationId xmlns:p14="http://schemas.microsoft.com/office/powerpoint/2010/main" val="2927615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85934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Growth Story of Huawei</a:t>
            </a:r>
          </a:p>
          <a:p>
            <a:r>
              <a:rPr lang="en-US" dirty="0"/>
              <a:t>Founded in 1987 in China.</a:t>
            </a:r>
          </a:p>
          <a:p>
            <a:r>
              <a:rPr lang="en-US" dirty="0"/>
              <a:t>Initially started as a telecommunications equipment company.</a:t>
            </a:r>
          </a:p>
          <a:p>
            <a:r>
              <a:rPr lang="en-US" dirty="0"/>
              <a:t>Growth Factors:</a:t>
            </a:r>
          </a:p>
          <a:p>
            <a:r>
              <a:rPr lang="en-US" dirty="0"/>
              <a:t>• Strong investment in research</a:t>
            </a:r>
            <a:br>
              <a:rPr lang="en-US" dirty="0"/>
            </a:br>
            <a:r>
              <a:rPr lang="en-US" dirty="0"/>
              <a:t>• Government support</a:t>
            </a:r>
            <a:br>
              <a:rPr lang="en-US" dirty="0"/>
            </a:br>
            <a:r>
              <a:rPr lang="en-US" dirty="0"/>
              <a:t>• Advanced technology</a:t>
            </a:r>
            <a:br>
              <a:rPr lang="en-US" dirty="0"/>
            </a:br>
            <a:r>
              <a:rPr lang="en-US" dirty="0"/>
              <a:t>• Global expansion strategy</a:t>
            </a:r>
          </a:p>
          <a:p>
            <a:r>
              <a:rPr lang="en-US" dirty="0"/>
              <a:t>Huawei became one of the top smartphone brands in the world.</a:t>
            </a:r>
          </a:p>
        </p:txBody>
      </p:sp>
    </p:spTree>
    <p:extLst>
      <p:ext uri="{BB962C8B-B14F-4D97-AF65-F5344CB8AC3E}">
        <p14:creationId xmlns:p14="http://schemas.microsoft.com/office/powerpoint/2010/main" val="1975030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How Did These Companies Grow So Fast?</a:t>
            </a:r>
          </a:p>
          <a:p>
            <a:r>
              <a:rPr lang="en-US" dirty="0"/>
              <a:t>The main reasons behind rapid growth:</a:t>
            </a:r>
          </a:p>
          <a:p>
            <a:r>
              <a:rPr lang="en-US" dirty="0"/>
              <a:t>• Continuous innovation</a:t>
            </a:r>
            <a:br>
              <a:rPr lang="en-US" dirty="0"/>
            </a:br>
            <a:r>
              <a:rPr lang="en-US" dirty="0"/>
              <a:t>• Massive investment in research and development</a:t>
            </a:r>
            <a:br>
              <a:rPr lang="en-US" dirty="0"/>
            </a:br>
            <a:r>
              <a:rPr lang="en-US" dirty="0"/>
              <a:t>• Strong branding</a:t>
            </a:r>
            <a:br>
              <a:rPr lang="en-US" dirty="0"/>
            </a:br>
            <a:r>
              <a:rPr lang="en-US" dirty="0"/>
              <a:t>• Global market expansion</a:t>
            </a:r>
            <a:br>
              <a:rPr lang="en-US" dirty="0"/>
            </a:br>
            <a:r>
              <a:rPr lang="en-US" dirty="0"/>
              <a:t>• Economies of scale (large production reduces cost)</a:t>
            </a:r>
            <a:br>
              <a:rPr lang="en-US" dirty="0"/>
            </a:br>
            <a:r>
              <a:rPr lang="en-US" dirty="0"/>
              <a:t>• Customer-focused strategy</a:t>
            </a:r>
            <a:br>
              <a:rPr lang="en-US" dirty="0"/>
            </a:br>
            <a:r>
              <a:rPr lang="en-US" dirty="0"/>
              <a:t>• Effective supply chain management</a:t>
            </a:r>
          </a:p>
          <a:p>
            <a:r>
              <a:rPr lang="en-US" dirty="0"/>
              <a:t>Technology and smart strategy made them successful.</a:t>
            </a:r>
          </a:p>
        </p:txBody>
      </p:sp>
    </p:spTree>
    <p:extLst>
      <p:ext uri="{BB962C8B-B14F-4D97-AF65-F5344CB8AC3E}">
        <p14:creationId xmlns:p14="http://schemas.microsoft.com/office/powerpoint/2010/main" val="486972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7323" y="1303164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Conclusion</a:t>
            </a:r>
          </a:p>
          <a:p>
            <a:endParaRPr lang="en-US" b="1" dirty="0"/>
          </a:p>
          <a:p>
            <a:r>
              <a:rPr lang="en-US" dirty="0" smtClean="0"/>
              <a:t>Unicorn </a:t>
            </a:r>
            <a:r>
              <a:rPr lang="en-US" dirty="0"/>
              <a:t>companies show how innovation and technology can create billion-dollar businesses quickly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/>
              <a:t>Phones have evolved from simple wired communication tools into powerful pocket supercomputers that manage almost every part of our lives.</a:t>
            </a:r>
            <a:br>
              <a:rPr lang="en-US" dirty="0"/>
            </a:br>
            <a:r>
              <a:rPr lang="en-US" dirty="0"/>
              <a:t>Their journey shows how technology keeps improving </a:t>
            </a:r>
            <a:r>
              <a:rPr lang="en-US" dirty="0" smtClean="0"/>
              <a:t> </a:t>
            </a:r>
            <a:r>
              <a:rPr lang="en-US" dirty="0"/>
              <a:t>and the future will bring even smarter innovations.</a:t>
            </a:r>
          </a:p>
          <a:p>
            <a:r>
              <a:rPr lang="en-US" dirty="0" smtClean="0"/>
              <a:t>Major smartphone companies like Samsung, Apple, </a:t>
            </a:r>
            <a:r>
              <a:rPr lang="en-US" dirty="0" err="1" smtClean="0"/>
              <a:t>Oppo</a:t>
            </a:r>
            <a:r>
              <a:rPr lang="en-US" dirty="0" smtClean="0"/>
              <a:t>, and Huawei succeeded because of innovation, strategy, branding, and global expansion.</a:t>
            </a:r>
          </a:p>
          <a:p>
            <a:r>
              <a:rPr lang="en-US" dirty="0" smtClean="0"/>
              <a:t>In </a:t>
            </a:r>
            <a:r>
              <a:rPr lang="en-US" dirty="0"/>
              <a:t>modern business, success depends on:</a:t>
            </a:r>
          </a:p>
          <a:p>
            <a:r>
              <a:rPr lang="en-US" dirty="0"/>
              <a:t>Innovation + Strategy + Technology +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27651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165</TotalTime>
  <Words>1075</Words>
  <Application>Microsoft Office PowerPoint</Application>
  <PresentationFormat>Widescreen</PresentationFormat>
  <Paragraphs>169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Century Gothic</vt:lpstr>
      <vt:lpstr>Wingdings 3</vt:lpstr>
      <vt:lpstr>Ion</vt:lpstr>
      <vt:lpstr> Business Innovation and Growth Strategies in the Modern Smartphone Industry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Innovation and Growth Strategies in the Modern Smartphone Industry</dc:title>
  <dc:creator>Hp</dc:creator>
  <cp:lastModifiedBy>Hp</cp:lastModifiedBy>
  <cp:revision>15</cp:revision>
  <dcterms:created xsi:type="dcterms:W3CDTF">2026-03-04T17:22:29Z</dcterms:created>
  <dcterms:modified xsi:type="dcterms:W3CDTF">2026-03-05T01:31:44Z</dcterms:modified>
</cp:coreProperties>
</file>